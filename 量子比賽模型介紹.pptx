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b4a45cdd7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b4a45cdd7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b4a45cdd7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b4a45cdd7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b4a45cdd7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b4a45cdd7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b4a45cdd7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9b4a45cdd7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b4a45cdd7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b4a45cdd7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b58115d63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b58115d63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b58115d6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b58115d6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b58115d63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b58115d63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b58115d6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b58115d6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b58115d6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b58115d6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9b58115d6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9b58115d6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量子比賽模型介紹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預測 S&amp;P 500 指數價格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作者與日期： Sathish Manthani, 05/25/2020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摘要： 使用機器學習預測 S&amp;P 500 價格，專注於技術和基本面分析。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問題陳述： 預測 S&amp;P 500 價格，將嘗試 OLS, kNN, Neural networks, LSTM 等模型。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範圍： 僅限於基本面和技術分析，不包含市場情緒分析。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資料來源與準備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資料來源： 說明資料是從 Yahoo Finance API 獲取 S&amp;P 500 (^GSPC) 在 2000 年到 2025 年的歷史數據。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資料載入程式碼： 簡要展示使用 yfinance 庫下載數據的程式碼。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初步資料檢查： 顯示數據的前幾行 (head())，描述性統計 (describe())，資料類型 (dtypes)，以及檢查是否有缺失值 (isna().sum())。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檢查結果： 說明數據類型正常，沒有缺失值。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大型股與 S&amp;P 500 的關係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414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目標： 探討市值前五大股票 (AAPL, MSFT, GOOGL, AMZN, FB) 與 S&amp;P 500 之間的關係。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數據獲取： 說明獲取這些股票在 2015 年到 2020 年的數據。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相關性分析： 展示計算這些股票與 S&amp;P 500 之間相關性的熱力圖。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相關性解讀： 指出大型股與 S&amp;P 500 之間存在高度相關性，表明它們的走勢一致。</a:t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1" y="576238"/>
            <a:ext cx="4364597" cy="3991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股票報酬分析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600"/>
              <a:t>簡單報酬： 介紹簡單報酬的計算公式，並展示大型股與 S&amp;P 500 在過去十年累計簡單報酬的折線圖。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簡單報酬解讀： 分析各股票的報酬表現，例如 Amazon 和 Microsoft 在這段時間內的強勁增長，以及 S&amp;P 500 相對較低的報酬。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600"/>
              <a:t>年化報酬： 介紹年化報酬的概念，並展示大型股與 S&amp;P 500 年化報酬的長條圖。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600"/>
              <a:t>年化報酬解讀： 指出 Amazon 擁有最高的年化報酬，而 S&amp;P 500 的年化報酬相對較低。</a:t>
            </a:r>
            <a:endParaRPr sz="1600"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3838" y="3419151"/>
            <a:ext cx="3356335" cy="172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S&amp;P 500 日報酬與波動性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日簡單報酬： 計算並展示 S&amp;P 500 每日簡單百分比變化的折線圖。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日簡單報酬統計： 顯示日簡單報酬的描述性統計，例如平均值、標準差、最小值和最大值。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日簡單報酬解讀： 說明大部分日報酬在 (-4%, +4%) 之間，並指出像 2008-09 年金融危機和 2020 年 3 月新冠疫情期間的極端值。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日對數報酬： 計算並展示 S&amp;P 500 每日對數報酬的折線圖及其描述性統計。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對數報酬解讀： 比較日簡單報酬和日對數報酬的差異。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日報酬分佈： 展示 S&amp;P 500 日報酬的分佈直方圖。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分佈解讀： 說明日報酬的分佈接近常態分佈。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波動性： 介紹波動性的概念 (標準差)，並計算和展示日、月、年化波動性。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波動性解讀： 指出 S&amp;P 500 的年化波動性較高，意味著價格波動幅度較大。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特徵工程與目標變數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目標： 為 S&amp;P 500 建立用於預測的特徵和目標變數。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新特徵： 說明建立的新特徵，例如 14 天的收盤價百分比變化、14 天和 200 天的簡單移動平均 (SMA)、相對強弱指數 (RSI) 以及指數移動平均 (EMA)。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目標變數： 定義目標變數為未來 14 天的收盤價 (14d_future_close) 和未來 14 天的收盤價百分比變化 (14d_future_close_pct)。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特徵與目標的相關性： 展示新特徵與調整後收盤價以及未來 14 天收盤價百分比變化的相關性熱力圖。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相關性解讀： 指出移動平均和 EMA 等技術指標與收盤價高度相關。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移動平均線圖： 展示調整後收盤價與 200 天 SMA 和 EMA 的疊加圖，說明移動平均線的平滑效果。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模型建立與評估</a:t>
            </a:r>
            <a:endParaRPr/>
          </a:p>
        </p:txBody>
      </p:sp>
      <p:sp>
        <p:nvSpPr>
          <p:cNvPr id="99" name="Google Shape;99;p20"/>
          <p:cNvSpPr txBox="1"/>
          <p:nvPr>
            <p:ph idx="1" type="body"/>
          </p:nvPr>
        </p:nvSpPr>
        <p:spPr>
          <a:xfrm>
            <a:off x="467550" y="1127400"/>
            <a:ext cx="8208900" cy="40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zh-TW" sz="1350"/>
              <a:t>資料分割： 說明時間序列資料的分割方式，使用前 85% 作為訓練集，後 15% 作為測試集。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zh-TW" sz="1350"/>
              <a:t>模型介紹： 依序介紹嘗試的機器學習模型。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zh-TW" sz="1350"/>
              <a:t>決策樹 (Decision Tree)：</a:t>
            </a:r>
            <a:endParaRPr b="1"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zh-TW" sz="1350"/>
              <a:t>展示預測值與實際值的散點圖。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zh-TW" sz="1350"/>
              <a:t>解讀： 決策樹在訓練集上表現良好，但在測試集上表現不佳，可能存在過度擬合。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zh-TW" sz="1350"/>
              <a:t>隨機森林 (Random Forests)：</a:t>
            </a:r>
            <a:endParaRPr b="1"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zh-TW" sz="1350"/>
              <a:t>使用 ParameterGrid 尋找最佳超參數。展示最佳超參數組合及其對應的測試集 R-squared 分數。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lang="zh-TW" sz="1350"/>
              <a:t>解讀： 隨機森林的表現略優於決策樹，但準確度仍不高。</a:t>
            </a:r>
            <a:endParaRPr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zh-TW" sz="1350"/>
              <a:t>梯度提升 (Gradient Boosting)：</a:t>
            </a:r>
            <a:endParaRPr b="1" sz="135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zh-TW" sz="1350"/>
              <a:t>解讀： 梯度提升模型表現比前兩個模型稍好，但仍不足以精確預測。</a:t>
            </a:r>
            <a:endParaRPr sz="13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07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模型建立與評估</a:t>
            </a:r>
            <a:endParaRPr/>
          </a:p>
        </p:txBody>
      </p:sp>
      <p:sp>
        <p:nvSpPr>
          <p:cNvPr id="105" name="Google Shape;105;p21"/>
          <p:cNvSpPr txBox="1"/>
          <p:nvPr>
            <p:ph idx="1" type="body"/>
          </p:nvPr>
        </p:nvSpPr>
        <p:spPr>
          <a:xfrm>
            <a:off x="623400" y="12354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zh-TW" sz="1350"/>
              <a:t>神經網絡 (Neural Networks)：</a:t>
            </a:r>
            <a:endParaRPr b="1"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50"/>
              <a:t>資料標準化： 說明在建立神經網絡前對資料進行標準化。</a:t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50"/>
              <a:t>模型架構： 展示使用 Keras 建立的序列模型 (Sequential)，包含層數和激活函數 (ReLU, Linear)。</a:t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50"/>
              <a:t>模型編譯與訓練： 說明使用 Adam 優化器和 MSE 損失函數進行訓練，並展示訓練過程的損失圖。</a:t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50"/>
              <a:t>評估： 展示預測值與實際值的散點圖。</a:t>
            </a:r>
            <a:endParaRPr sz="135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350"/>
              <a:t>解讀： 神經網絡在此次嘗試中表現不佳，可能需要更多的模型調優。</a:t>
            </a:r>
            <a:endParaRPr sz="13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模型建立與評估</a:t>
            </a:r>
            <a:endParaRPr/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701400" y="1168975"/>
            <a:ext cx="8130900" cy="3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Facebook 的 Prophet：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介紹： 說明 Prophet 是專門用於時間序列預測的模型。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資料準備： 說明將資料整理成 Prophet 所需的 'ds' (日期) 和 'y' (值) 格式。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模型建立與訓練： 展示建立和訓練 Prophet 模型的程式碼。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未來預測： 說明使用 make_future_dataframe 建立未來日期，並使用 predict 進行預測。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預測結果可視化： 展示 Prophet 模型預測結果 (包含置信區間) 與實際資料的對比圖。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評估指標： 計算並展示 R-squared, Mean Squared Error (MSE) 和 Mean Absolute Error (MAE)。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評估解讀： 指出 Prophet 模型展現了不錯的擬合度 (高 R-squared) 和相對較低的誤差 (MSE 和 MAE)，表明它在預測 S&amp;P 500 價格方面表現較好。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結論</a:t>
            </a:r>
            <a:endParaRPr/>
          </a:p>
        </p:txBody>
      </p:sp>
      <p:sp>
        <p:nvSpPr>
          <p:cNvPr id="117" name="Google Shape;117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專案回顧： 總結整個專案流程，從資料獲取、EDA、特徵工程到模型建立與評估。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主要發現： 重申大型股與 S&amp;P 500 的高度相關性，以及 S&amp;P 500 日報酬的分佈和波動性。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模型比較： 簡要比較不同模型的表現，指出 Prophet 在本次實驗中表現最佳。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Prophet 預測結果： 根據 Prophet 模型，提供對未來 S&amp;P 500 價格的預測 (例如，預計未來 2-3 年 S&amp;P 500 會上漲)，並提供預測的目標價格和置信區間。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儲存模型： 說明儲存 Prophet 模型以便後續使用。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參考資料</a:t>
            </a:r>
            <a:endParaRPr/>
          </a:p>
        </p:txBody>
      </p:sp>
      <p:sp>
        <p:nvSpPr>
          <p:cNvPr id="123" name="Google Shape;12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